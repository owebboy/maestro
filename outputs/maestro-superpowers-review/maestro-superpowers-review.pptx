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82abfa6d8e45d7" /><Relationship Type="http://schemas.openxmlformats.org/officeDocument/2006/relationships/extended-properties" Target="/docProps/app.xml" Id="R5e06bcbc356b498c" /><Relationship Type="http://schemas.openxmlformats.org/officeDocument/2006/relationships/officeDocument" Target="/ppt/presentation.xml" Id="R5ea3d6cd97d6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531e6f79d4c91"/>
  </p:sldMasterIdLst>
  <p:notesMasterIdLst>
    <p:notesMasterId xmlns:r="http://schemas.openxmlformats.org/officeDocument/2006/relationships" r:id="Rf1e6be5ae18d460a"/>
  </p:notesMasterIdLst>
  <p:sldIdLst>
    <p:sldId xmlns:r="http://schemas.openxmlformats.org/officeDocument/2006/relationships" id="256" r:id="Rf0a59bf50ca04960"/>
    <p:sldId xmlns:r="http://schemas.openxmlformats.org/officeDocument/2006/relationships" id="257" r:id="R09975593af6f4ce7"/>
    <p:sldId xmlns:r="http://schemas.openxmlformats.org/officeDocument/2006/relationships" id="258" r:id="Rfc5e9d7b68484531"/>
    <p:sldId xmlns:r="http://schemas.openxmlformats.org/officeDocument/2006/relationships" id="259" r:id="R13581ab1546645f5"/>
    <p:sldId xmlns:r="http://schemas.openxmlformats.org/officeDocument/2006/relationships" id="260" r:id="Rff1d6ded139f4393"/>
    <p:sldId xmlns:r="http://schemas.openxmlformats.org/officeDocument/2006/relationships" id="261" r:id="Rdb0e9aca2c8c4b80"/>
    <p:sldId xmlns:r="http://schemas.openxmlformats.org/officeDocument/2006/relationships" id="262" r:id="Rfe7b49ffc49442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531e6f79d4c91" /><Relationship Type="http://schemas.openxmlformats.org/officeDocument/2006/relationships/theme" Target="/ppt/theme/theme1.xml" Id="R514f468b6234445d" /><Relationship Type="http://schemas.openxmlformats.org/officeDocument/2006/relationships/notesMaster" Target="/ppt/notesMasters/notesMaster1.xml" Id="Rf1e6be5ae18d460a" /><Relationship Type="http://schemas.openxmlformats.org/officeDocument/2006/relationships/presProps" Target="/ppt/presProps.xml" Id="Ra880283f277143c9" /><Relationship Type="http://schemas.openxmlformats.org/officeDocument/2006/relationships/viewProps" Target="/ppt/viewProps.xml" Id="Re36dd508abab4adc" /><Relationship Type="http://schemas.openxmlformats.org/officeDocument/2006/relationships/tableStyles" Target="/ppt/tableStyles.xml" Id="Rfc925f8a21714d38" /><Relationship Type="http://schemas.openxmlformats.org/officeDocument/2006/relationships/slide" Target="/ppt/slides/slide1.xml" Id="Rf0a59bf50ca04960" /><Relationship Type="http://schemas.openxmlformats.org/officeDocument/2006/relationships/slide" Target="/ppt/slides/slide2.xml" Id="R09975593af6f4ce7" /><Relationship Type="http://schemas.openxmlformats.org/officeDocument/2006/relationships/slide" Target="/ppt/slides/slide3.xml" Id="Rfc5e9d7b68484531" /><Relationship Type="http://schemas.openxmlformats.org/officeDocument/2006/relationships/slide" Target="/ppt/slides/slide4.xml" Id="R13581ab1546645f5" /><Relationship Type="http://schemas.openxmlformats.org/officeDocument/2006/relationships/slide" Target="/ppt/slides/slide5.xml" Id="Rff1d6ded139f4393" /><Relationship Type="http://schemas.openxmlformats.org/officeDocument/2006/relationships/slide" Target="/ppt/slides/slide6.xml" Id="Rdb0e9aca2c8c4b80" /><Relationship Type="http://schemas.openxmlformats.org/officeDocument/2006/relationships/slide" Target="/ppt/slides/slide7.xml" Id="Rfe7b49ffc49442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b748c5601a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MaestroSuperpowersReview">
  <a:themeElements>
    <a:clrScheme name="MaestroSuperpowersReview">
      <a:accent1>
        <a:srgbClr val="0F766E"/>
      </a:accent1>
      <a:accent2>
        <a:srgbClr val="F59E0B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estroSuperpowersReview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ff859bc08c4e1e" /><Relationship Type="http://schemas.openxmlformats.org/officeDocument/2006/relationships/notesMaster" Target="/ppt/notesMasters/notesMaster1.xml" Id="R3b4b4ae7520d42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7b93e5c8f4b37" /><Relationship Type="http://schemas.openxmlformats.org/officeDocument/2006/relationships/notesMaster" Target="/ppt/notesMasters/notesMaster1.xml" Id="R1237f2ece42d46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2e9f6699c4839" /><Relationship Type="http://schemas.openxmlformats.org/officeDocument/2006/relationships/notesMaster" Target="/ppt/notesMasters/notesMaster1.xml" Id="Rc449339fe62b49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5a40dad38f4bde" /><Relationship Type="http://schemas.openxmlformats.org/officeDocument/2006/relationships/notesMaster" Target="/ppt/notesMasters/notesMaster1.xml" Id="R0b4a70c199064a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72af549e340fd" /><Relationship Type="http://schemas.openxmlformats.org/officeDocument/2006/relationships/notesMaster" Target="/ppt/notesMasters/notesMaster1.xml" Id="Rf93510d15fb447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9c3ba19cd649c9" /><Relationship Type="http://schemas.openxmlformats.org/officeDocument/2006/relationships/notesMaster" Target="/ppt/notesMasters/notesMaster1.xml" Id="R51d3b5d29d1140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937b0577a4b9b" /><Relationship Type="http://schemas.openxmlformats.org/officeDocument/2006/relationships/notesMaster" Target="/ppt/notesMasters/notesMaster1.xml" Id="R86142051356141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c42c6486147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CCC9BD1-F10C-46CB-945F-F2737EF4722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1CA1326-453B-4496-BE51-CF4C554039F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F44048-A982-4FA0-B97A-FEE822D78F4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284017-389F-43D3-840D-E54DEABF0B4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67b7d7e400d448f" /><Relationship Type="http://schemas.openxmlformats.org/officeDocument/2006/relationships/slideLayout" Target="/ppt/slideLayouts/slideLayout2.xml" Id="Rcd3ead854aac4d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B82922-8990-4D25-B1D2-B6CB317E758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3ead854aac4d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079a079fe46cb" /><Relationship Type="http://schemas.openxmlformats.org/officeDocument/2006/relationships/notesSlide" Target="/ppt/notesSlides/notesSlide1.xml" Id="Rea46848122e54c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804e17ad5946d4" /><Relationship Type="http://schemas.openxmlformats.org/officeDocument/2006/relationships/notesSlide" Target="/ppt/notesSlides/notesSlide2.xml" Id="Rfc89b6425f5842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ce3bec7ad491f" /><Relationship Type="http://schemas.openxmlformats.org/officeDocument/2006/relationships/chart" Target="/ppt/slides/charts/chart1.xml" Id="Ra69cde78bf8e4217" /><Relationship Type="http://schemas.openxmlformats.org/officeDocument/2006/relationships/notesSlide" Target="/ppt/notesSlides/notesSlide3.xml" Id="Rcea0fcc7d17e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947f1f0e7649ce" /><Relationship Type="http://schemas.openxmlformats.org/officeDocument/2006/relationships/notesSlide" Target="/ppt/notesSlides/notesSlide4.xml" Id="Rbbc8627d68444c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ffb5cfdab4183" /><Relationship Type="http://schemas.openxmlformats.org/officeDocument/2006/relationships/notesSlide" Target="/ppt/notesSlides/notesSlide5.xml" Id="Rfb3ccd3d0ef042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2c8b23e5e493e" /><Relationship Type="http://schemas.openxmlformats.org/officeDocument/2006/relationships/notesSlide" Target="/ppt/notesSlides/notesSlide6.xml" Id="Rab81a4eda942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3e8a8de844933" /><Relationship Type="http://schemas.openxmlformats.org/officeDocument/2006/relationships/notesSlide" Target="/ppt/notesSlides/notesSlide7.xml" Id="R4d7793ff5a604489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Review Surface Count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F8FAFC"/>
              </a:solidFill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Skills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Maestro</c:v>
              </c:pt>
              <c:pt idx="1">
                <c:v>Superpowers</c:v>
              </c:pt>
            </c:strLit>
          </c:cat>
          <c:val>
            <c:numLit>
              <c:formatCode/>
              <c:ptCount val="2"/>
              <c:pt idx="0">
                <c:v>15</c:v>
              </c:pt>
              <c:pt idx="1">
                <c:v>12</c:v>
              </c:pt>
            </c:numLit>
          </c:val>
        </c:ser>
        <c:ser>
          <c:idx val="1"/>
          <c:order val="1"/>
          <c:tx>
            <c:v>Install/packaging surfaces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2"/>
              <c:pt idx="0">
                <c:v>Maestro</c:v>
              </c:pt>
              <c:pt idx="1">
                <c:v>Superpowers</c:v>
              </c:pt>
            </c:strLit>
          </c:cat>
          <c:val>
            <c:numLit>
              <c:formatCode/>
              <c:ptCount val="2"/>
              <c:pt idx="0">
                <c:v>6</c:v>
              </c:pt>
              <c:pt idx="1">
                <c:v>5</c:v>
              </c:pt>
            </c:numLit>
          </c:val>
        </c:ser>
        <c:ser>
          <c:idx val="2"/>
          <c:order val="2"/>
          <c:tx>
            <c:v>Tests / harness checks</c:v>
          </c:tx>
          <c:spPr>
            <a:solidFill xmlns:a="http://schemas.openxmlformats.org/drawingml/2006/main">
              <a:srgbClr val="FBBF24"/>
            </a:solidFill>
          </c:spPr>
          <c:cat>
            <c:strLit>
              <c:ptCount val="2"/>
              <c:pt idx="0">
                <c:v>Maestro</c:v>
              </c:pt>
              <c:pt idx="1">
                <c:v>Superpowers</c:v>
              </c:pt>
            </c:strLit>
          </c:cat>
          <c:val>
            <c:numLit>
              <c:formatCode/>
              <c:ptCount val="2"/>
              <c:pt idx="0">
                <c:v>5</c:v>
              </c:pt>
              <c:pt idx="1">
                <c:v>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AFC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1182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4A3B8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D09B6-8059-4D45-B4BD-38177F93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4FF7C-1A7C-4F92-A284-9EC9E25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97597-F731-49AB-A9E6-1A887118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F7371-4FDA-4E8B-AA11-1A4012E0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4AA09-68AD-492E-B881-83738B0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514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FBBF24"/>
                </a:solidFill>
              </a:rPr>
              <a:t>Engineering Review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C507F-BEB6-4FE3-8011-EEF592DC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781050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Maestro + Superpowers</a:t>
            </a:r>
          </a:p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What They Solve, Where They Fit, and What Needs 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06569-F103-4FAD-BCEB-2D7A7557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68580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Review date: April 21, 2026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Audience: fellow coders evaluating agent workflow tooling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Takeaway: Maestro is the coordinator; Superpowers is the execution engine.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3BA05-62C5-443D-B3F4-C5A01AA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238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EB25B-985D-4F97-9BD6-B465547D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0EEB3-F92F-434E-B141-F921832C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2857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Maestro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EBBF2-2A4A-4897-B7E6-097F70F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857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Track lifecycle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Issue pipeline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UAT and 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8581B-8693-4336-97FF-F5BABCC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3238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1EF85-01E8-4DF6-96B4-16222A6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3D968-5196-48B1-AEA4-537F544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33800"/>
            <a:ext cx="2857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Superpowers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DA4D9-3185-42AC-9C7B-EC6577C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2857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Brainstorming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Planning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TDD and subagent loops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53955-B8CA-4CC4-BA52-9C47AD78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3060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7491A-5E73-4312-88EC-EA24D96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BB24D-5590-46BB-AC15-C4F329A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9250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Bottom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BFDAB-783E-431A-A7E9-7EC5B78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9925050" cy="-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Together they form a strong development system, but Codex support still has a few sharp edges that matter in real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1C54E-7AE2-497A-9FBF-8D3775C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Maestro review based on local repo inspection and smoke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BD210-A696-49C8-BAE9-6CE020A7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Superpowers reviewed at obra/superpowers v5.0.7</a:t>
            </a:r>
          </a:p>
        </p:txBody>
      </p:sp>
    </p:spTree>
    <p:extLst>
      <p:ext uri="{BB962C8B-B14F-4D97-AF65-F5344CB8AC3E}">
        <p14:creationId xmlns:p14="http://schemas.microsoft.com/office/powerpoint/2010/main" val="908140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C46CB-7343-4A38-AD64-7E4E2DE9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D3647-61B4-453A-B311-88476737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010CA-5D69-4902-9593-350CDC8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2E75E-609C-4DB3-AF14-7472A92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System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DB265-F333-4A7F-BE89-EC3C1912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53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t>These projects operate at different layers of the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E226E-34B7-40E5-9A5D-E23FB31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The easiest way to understand them is not feature-by-feature, but by control plane versus execution plane.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50543-9048-41B9-A51F-9D929CA5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857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C017E-AD5B-4494-9F82-7B3FA92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A7952-3F34-4988-B1CD-61E85D10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47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Maestro: 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FD032-39A8-4669-8D96-7F5E0E5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476750" cy="2000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Creates project context and tracks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Moves work from inbox to reviewed issue to implementation track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Maintains status, metadata, UAT, archival, and session cleanup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Wraps optional skills behind a single 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D0B79-14E7-483F-82ED-AA3BEEF1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4857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F8A4F-4365-45DD-B866-F7F0F931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479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9C72C-A38D-4B86-B0F7-D0D204B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447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Superpowers: execution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11263-B73E-46D9-893A-0C339E67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4476750" cy="2000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Pushes brainstorming before coding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Turns approved design into explicit implementation plans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Enforces TDD, review loops, and branch finishing discipline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Optimizes for autonomous throughput once the plan is right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D967B-2D4B-4F95-A2B3-A4CB6E95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857250" cy="704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4CB18-CF3A-4FAC-A1DB-1BC1402E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3276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t>Best mental model: Maestro decides what work exists. Superpowers decides how the work gets done.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70D27-E510-4055-B92A-673F511A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This separation is the strongest architectural idea across both projects.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B7B0D-B6AF-4DD5-9157-B9CEBA35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820134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E1868-3865-48DD-B1A6-80648C67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95FFE-CD78-49E1-9CCA-A6A68AD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B822A-B7F0-407E-9B07-2439D7E3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0D4F-493A-4BB3-B106-BEC64F7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Coverage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D239-FDA5-491B-8978-F9D1D7A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53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t>What the review actually 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84996-CF89-409D-91A1-B2CC951A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The review focused on the surfaces that control developer behavior, installation, and cross-harness compatibility.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0E9EE-755B-4EB0-80E4-B8F9E067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4864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76300" y="2762250"/>
          <a:ext xmlns:a="http://schemas.openxmlformats.org/drawingml/2006/main" cx="4953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9cde78bf8e421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B6542-F842-4712-A9BB-D5E2A872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5181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42341-3148-4825-B4DB-3B47691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82134-EEB5-433A-BAB9-839C817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800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Maestro review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C9D92-0A32-49C9-95CB-3920CA7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48006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Local repo inspection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Manifest validation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Installer smoke tests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Skill and hook path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9DDD1-70D6-4475-8D93-5D53E959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81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35FD2-35C4-402E-832A-7C962901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196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DD6E2-002A-4304-A5B4-DFA5533D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800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Superpowers review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E684E-5F09-41F4-B15E-590F837C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29200"/>
            <a:ext cx="48006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Canonical GitHub source review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Codex install/doc path analysis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Skill-to-runtime assumption checks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Release and issue cross-checking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212DE-8DA8-47F6-AFA8-D3A0A8AE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This was a behavioral workflow review, not just a README skim.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8C04F-5045-4D49-B114-F1B890F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1405241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19DB5-BD49-4BC7-8CDF-16BEDE71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B5B20-4BF3-4556-8361-A4DBC254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00B08-E41C-4F47-9D55-6C7C57B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4B2E7-5789-4E12-8528-D75F2A9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Maestro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278DE-5E68-4E43-99E3-D26E7C1C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53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t>Strong structure, a few real Codex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689FD-B147-481B-BBC2-36C4B60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The repo is internally coherent and the installer works, but the Codex-specific edges need tightening.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E28B8-A438-43E1-9FEF-C710677D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6195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D99B1-C326-4271-B3C2-0E52E41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74BEC-EABF-42FB-BD91-866D6A5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238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What is strong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CC081-B795-4B09-B903-DD078EE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238500" cy="2247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Plugin manifests and docs are aligned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Local validation passes cleanly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Installer smoke tests succeeded for Claude and Codex targets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Shared skill catalog is clear and well-scoped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9315A-26C0-4DE9-8AC4-0A8E4D9F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3909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067D2-DB39-4231-B7FD-052528C0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955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AD59F-B9D4-46F2-A68D-72C6768B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30099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Verified finding #1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96EFB-0F38-4A51-BA26-D5E39C12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3009900" cy="2247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The session-start hook counts template example bullets as real inbox items.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Fresh installs incorrectly show 2 unprocessed issues before any work exists.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This is a real UX bug, not just a doc mismatch.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8B071-098C-4E20-B32C-F89887B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34671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22453-CF8D-495E-A5A4-9013990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80CD1-2C34-494D-B09B-FB8A429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Verified findings #2 and #3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02B9B-0643-4BC5-A89C-4E6DCE6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3086100" cy="2247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Optional-skill detection is Claude-centric and misses project-scoped Codex installs in .agents/skills.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A few 'do not invoke implicitly' controls still rely on frontmatter that Maestro's own Codex docs say Codex ignores.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58395-1B35-49FB-8BC1-13B9387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Best summary: operationally solid, but Codex integration still trails the repo’s own ambitions.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3F9AA-81D3-48AA-9098-F0C9AC67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1154213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8B456-54BF-45F3-B0B0-20EB924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0871C-6AB4-4400-8A60-0DE1A8E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CD463-78BA-4CA7-9E62-BDBEBE6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57706-8D2E-4BB9-B3CF-71C3595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Superpowers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F3152-2C05-4181-914F-7A4030C6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53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t>Excellent workflow discipline, one notable Codex-native mismatch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A2E9E-983A-4C17-97C7-053F6602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The core methodology is strong. The current gap is the distance between Codex install docs and one of the runtime review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7DC4C-9BB9-42A5-9351-9C256C3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8290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7A2A8-5CB0-4A7D-ADFC-A3703C9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CE7A1-0AD2-4833-BA10-F0DF0B0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4480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What is strong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1AFEF-5D43-4D26-A02B-BC2E0825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3448050" cy="2095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Clear methodology: brainstorm, plan, TDD, review, finish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Cross-harness packaging exists for several environments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Contributor guidance is unusually explicit about quality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Release process is active and recent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0B8D4-9B52-471E-8355-FDAF6BE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3EA45-2C51-4971-BE86-79D533E8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5B0FC-A1D9-423D-8125-41605C94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895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Verified finding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039BD-7BE4-4E21-909E-6AC47E91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1350"/>
            <a:ext cx="2895600" cy="2095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Codex-native install exposes skills, but requesting-code-review still instructs users to dispatch a Task-style code-reviewer subagent.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That reviewer template lives outside the native Codex skill install path.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Result: the flow can degrade exactly where review should be mandatory.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ED7CB-09D7-4E74-98EB-E5874CFF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3718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EA951-71BF-4055-B1BD-BDB68BE6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CD7DF-64B0-4A73-A7D0-B9595B0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9908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Residual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799E6-3773-48AA-8735-87686EE7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2990850" cy="2095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Visible test folders cover triggering and other harnesses, but no Codex-focused tests were obvious in the repo surface.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That makes Codex regressions easier to ship.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994CB-3C64-4FF1-A3F5-E38CDDE8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Best summary: impressive system design, but Codex support needs tighter end-to-end verification.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AC2E3-35AF-4951-A50E-9DC69E78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584016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DB63-F1B1-4C66-B574-52007D5B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86F8E-FD1D-480B-A317-61294550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CFB4D-B061-4E95-8A3A-5701997A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5638C-75CD-4F13-933D-2652407B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4304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Adoption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9B308-1D58-44D1-89B7-A9AA4A4C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53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t>How I’d pitch this to an engineering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32DD0-573A-4695-A6B8-D800176E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94A3B8"/>
                </a:solidFill>
              </a:rPr>
              <a:t>Treat these as complementary pieces of a workflow stack, not competitors.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3867-52E4-48C5-AF65-76747456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F01BA-9DEE-44FE-84C1-9399DF5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48902-D001-411A-9125-91DA8F9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048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Adopt Maestro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21A61-B55F-4DD9-8F8D-450F165B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048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You want tracked work, issue routing, and session continuity.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Your team needs operational scaffolding more than philosophy.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You work across Claude and Codex and want one house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13298-C0A1-4AFF-8852-AEEC6F3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F19E1-91DA-4AB9-B461-C57E3029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22F37-2CC2-40C4-AD74-D6EEB29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048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Adopt Superpowers 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D7646-F22D-4305-ABDB-2330EA9D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You want stricter engineering discipline inside each implementation step.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Your team benefits from forced planning, TDD, and review loops.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You are comfortable buying into a stronger opinionated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3096D-AB92-439F-A132-D4FACF7E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1A6CB-601D-437F-BA8D-FC12EAF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2807E-CDB2-4B3A-8C02-247AECEC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3048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t>Best combined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7884A-DDD5-4CB4-AAB8-25D0C8FF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Use Maestro as the shell around project workflow.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Use Superpowers as the engine behind design, planning, and execution.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Patch the Codex gaps before rolling it out broadly.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664AC-2AB5-4994-9980-E5BB9424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This combination makes sense because the projects are layered, not redundant.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8EF84-B860-42F6-8082-630C324C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1414392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4F123-18FA-4C6B-9BE3-714B4DD47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BE038-2B29-435E-8583-2D6C8AB9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0FB0A-8DD5-4888-A3D4-4DE23F21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4D255-5E73-4FF1-AB91-444A444F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A3FE3-B03B-453D-A7BC-B4E73306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510540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0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AFAC8-D62B-4BA9-9889-7A04E0E0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99060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t>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E0502-89D9-4755-97B4-88FDE78E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334500" cy="2095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Maestro is the better operational wrapper.</a:t>
            </a:r>
          </a:p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Superpowers is the better behavioral engine.</a:t>
            </a:r>
          </a:p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If you want a serious coding-agent workflow, use both.</a:t>
            </a:r>
          </a:p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If you want to trust Codex broadly, fix the review-path and detection gaps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255B3-F2F4-46A5-B9E8-5180D331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2286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Maestro = coordination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41307-5278-43C2-8C5F-08D746F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2514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94A3B8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Superpowers =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963DD-62EA-441B-9165-7DB1019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t>Deck created from local Maestro review and canonical Superpowers source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56ADB-3EA4-4663-A343-07823A8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96050"/>
            <a:ext cx="27241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94A3B8"/>
                </a:solidFill>
              </a:defRPr>
            </a:pPr>
            <a:r>
              <a:t>Slide 7</a:t>
            </a:r>
          </a:p>
        </p:txBody>
      </p:sp>
    </p:spTree>
    <p:extLst>
      <p:ext uri="{BB962C8B-B14F-4D97-AF65-F5344CB8AC3E}">
        <p14:creationId xmlns:p14="http://schemas.microsoft.com/office/powerpoint/2010/main" val="252792563"/>
      </p:ext>
    </p:extLst>
  </p:cSld>
</p:sld>
</file>

<file path=ppt/theme/theme1.xml><?xml version="1.0" encoding="utf-8"?>
<a:theme xmlns:a="http://schemas.openxmlformats.org/drawingml/2006/main" name="MaestroSuperpowersReview">
  <a:themeElements>
    <a:clrScheme name="MaestroSuperpowersReview">
      <a:accent1>
        <a:srgbClr val="0F766E"/>
      </a:accent1>
      <a:accent2>
        <a:srgbClr val="F59E0B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estroSuperpowersReview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2026-04-21T16:53:06.8250000Z</dcterms:created>
  <dcterms:modified xsi:type="dcterms:W3CDTF">2026-04-21T16:53:06.8250000Z</dcterms:modified>
</coreProperties>
</file>